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5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2C3E50"/>
                </a:solidFill>
                <a:latin typeface="Calibri"/>
              </a:rPr>
              <a:t>NPS médio por faixa de atraso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2ECC71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12-A343-8806-C47187B34BD4}"/>
              </c:ext>
            </c:extLst>
          </c:dPt>
          <c:dPt>
            <c:idx val="1"/>
            <c:invertIfNegative val="0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12-A343-8806-C47187B34BD4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12-A343-8806-C47187B34BD4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12-A343-8806-C47187B34BD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prazo</c:v>
                </c:pt>
                <c:pt idx="1">
                  <c:v>1-3 dias atraso</c:v>
                </c:pt>
                <c:pt idx="2">
                  <c:v>4-7 dias atraso</c:v>
                </c:pt>
                <c:pt idx="3">
                  <c:v>8+ dias atraso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6.86</c:v>
                </c:pt>
                <c:pt idx="1">
                  <c:v>4.58</c:v>
                </c:pt>
                <c:pt idx="2">
                  <c:v>2.0099999999999998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12-A343-8806-C47187B34B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2C3E50"/>
                </a:solidFill>
                <a:latin typeface="Calibri"/>
              </a:rPr>
              <a:t>NPS médio por número de reclamações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E74C3C">
                <a:alpha val="85000"/>
              </a:srgbClr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8.52</c:v>
                </c:pt>
                <c:pt idx="1">
                  <c:v>7.77</c:v>
                </c:pt>
                <c:pt idx="2">
                  <c:v>6.05</c:v>
                </c:pt>
                <c:pt idx="3">
                  <c:v>4.91</c:v>
                </c:pt>
                <c:pt idx="4">
                  <c:v>4.22</c:v>
                </c:pt>
                <c:pt idx="5">
                  <c:v>3.65</c:v>
                </c:pt>
                <c:pt idx="6">
                  <c:v>3.06</c:v>
                </c:pt>
                <c:pt idx="7">
                  <c:v>2.38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96-9940-8DC1-B8E96F98FE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pt-BR" sz="1100" b="0" i="0" u="none" strike="noStrike">
                    <a:solidFill>
                      <a:srgbClr val="64748B"/>
                    </a:solidFill>
                    <a:latin typeface="Arial"/>
                  </a:rPr>
                  <a:t>Número de reclamações registradas pelo cliente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2C3E50"/>
                </a:solidFill>
                <a:latin typeface="Calibri"/>
              </a:rPr>
              <a:t>Correlação com a nota de NPS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com NPS</c:v>
                </c:pt>
              </c:strCache>
            </c:strRef>
          </c:tx>
          <c:spPr>
            <a:solidFill>
              <a:srgbClr val="E74C3C">
                <a:alpha val="85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B70-2941-ADBA-C3CBA9C0DCE3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70-2941-ADBA-C3CBA9C0DCE3}"/>
              </c:ext>
            </c:extLst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70-2941-ADBA-C3CBA9C0DCE3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70-2941-ADBA-C3CBA9C0DCE3}"/>
              </c:ext>
            </c:extLst>
          </c:dPt>
          <c:dPt>
            <c:idx val="4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70-2941-ADBA-C3CBA9C0DCE3}"/>
              </c:ext>
            </c:extLst>
          </c:dPt>
          <c:dPt>
            <c:idx val="5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B70-2941-ADBA-C3CBA9C0DCE3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C3E5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Atraso na entrega</c:v>
                </c:pt>
                <c:pt idx="1">
                  <c:v>Nº de reclamações</c:v>
                </c:pt>
                <c:pt idx="2">
                  <c:v>Contatos com SAC</c:v>
                </c:pt>
                <c:pt idx="3">
                  <c:v>Tempo de resolução</c:v>
                </c:pt>
                <c:pt idx="4">
                  <c:v>Recompra em 30d</c:v>
                </c:pt>
                <c:pt idx="5">
                  <c:v>CSAT interno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-0.6</c:v>
                </c:pt>
                <c:pt idx="1">
                  <c:v>-0.5</c:v>
                </c:pt>
                <c:pt idx="2">
                  <c:v>-0.35</c:v>
                </c:pt>
                <c:pt idx="3">
                  <c:v>-0.19</c:v>
                </c:pt>
                <c:pt idx="4">
                  <c:v>0.56999999999999995</c:v>
                </c:pt>
                <c:pt idx="5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B70-2941-ADBA-C3CBA9C0DC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18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nossos clientes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estão se tornando detratores?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diagnóstico do NPS a partir de 2.500 pedidos de e-commerce</a:t>
            </a:r>
            <a:endParaRPr lang="en-US" sz="1800" dirty="0"/>
          </a:p>
        </p:txBody>
      </p:sp>
      <p:sp>
        <p:nvSpPr>
          <p:cNvPr id="2" name="Shape 17">
            <a:extLst>
              <a:ext uri="{FF2B5EF4-FFF2-40B4-BE49-F238E27FC236}">
                <a16:creationId xmlns:a16="http://schemas.microsoft.com/office/drawing/2014/main" id="{2491DE1B-4FF8-A4E4-B7BD-888483286737}"/>
              </a:ext>
            </a:extLst>
          </p:cNvPr>
          <p:cNvSpPr/>
          <p:nvPr/>
        </p:nvSpPr>
        <p:spPr>
          <a:xfrm>
            <a:off x="731520" y="5852160"/>
            <a:ext cx="1371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3AB38546-5B6C-7D3B-8B6C-B9BE6449C5F9}"/>
              </a:ext>
            </a:extLst>
          </p:cNvPr>
          <p:cNvSpPr/>
          <p:nvPr/>
        </p:nvSpPr>
        <p:spPr>
          <a:xfrm>
            <a:off x="731520" y="5989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Corrêa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Carvalho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Diniz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RM: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NPS chega tarde demais para agir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9692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640080" cy="64008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640080" cy="64008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640080" cy="64008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377440"/>
            <a:ext cx="640080" cy="64008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78240" y="2377440"/>
            <a:ext cx="640080" cy="64008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NPS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06240"/>
            <a:ext cx="73152" cy="2103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34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pesquisa só acontece DEPOIS que o cliente já </a:t>
            </a:r>
            <a:r>
              <a:rPr lang="en-US" sz="1800" b="1" i="1" dirty="0" err="1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viveu</a:t>
            </a:r>
            <a:r>
              <a:rPr lang="en-US" sz="1800" b="1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experiência ruim.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me guiou foi: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um cliente </a:t>
            </a:r>
            <a:r>
              <a:rPr lang="en-US" sz="15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detractor, e como agir antes da pesquisa de NPS chegar?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cenário é crítico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6984" y="2103120"/>
            <a:ext cx="33832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46984" y="2103120"/>
            <a:ext cx="3383280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46984" y="24688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75584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 consolidado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584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(escala vai de -100 a +100)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784" y="2103120"/>
            <a:ext cx="33832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784" y="2103120"/>
            <a:ext cx="3383280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361784" y="24688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590384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são detratores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384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0 a 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76584" y="2103120"/>
            <a:ext cx="33832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76584" y="2103120"/>
            <a:ext cx="3383280" cy="1097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584" y="24688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4,4%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8705184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são promotores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05184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9 ou 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problema de "alguns clientes difíceis". </a:t>
            </a:r>
            <a:r>
              <a:rPr lang="en-US" sz="16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estrutural: afeta a maioria.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tempo de entrega. É o atraso.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828800"/>
            <a:ext cx="41148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dizem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4688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400" dirty="0"/>
              <a:t>O tempo total de entrega </a:t>
            </a:r>
            <a:r>
              <a:rPr lang="pt-BR" sz="1400" b="1" dirty="0"/>
              <a:t>praticamente não influencia o NPS</a:t>
            </a:r>
            <a:r>
              <a:rPr lang="pt-BR" sz="1400" dirty="0"/>
              <a:t>.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pt-BR" sz="1400" dirty="0"/>
              <a:t>Mas o </a:t>
            </a:r>
            <a:r>
              <a:rPr lang="pt-BR" sz="1400" b="1" dirty="0"/>
              <a:t>atraso em relação ao prazo prometido</a:t>
            </a:r>
            <a:r>
              <a:rPr lang="pt-BR" sz="1400" dirty="0"/>
              <a:t> é </a:t>
            </a:r>
            <a:r>
              <a:rPr lang="pt-BR" sz="1400" b="1" dirty="0"/>
              <a:t>o fator que mais destrói satisfação de toda a base</a:t>
            </a:r>
            <a:r>
              <a:rPr lang="pt-BR" sz="1400" dirty="0"/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4434840"/>
            <a:ext cx="3749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45720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cliente não mede quantos dias demorou. Mede se a </a:t>
            </a:r>
            <a:r>
              <a:rPr lang="en-US" sz="1400" i="1" dirty="0" err="1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</a:t>
            </a:r>
            <a:r>
              <a:rPr lang="en-US" sz="14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cumpriu o que prometeu.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 do prazo importa mais do que velocidade absoluta.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fricção depois da compra cobra um preço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11064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reclamação: NPS 8,5 (promotor). </a:t>
            </a: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5+ reclamações: NPS abaixo de 4. 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quando o problema é resolvido, dificilmente o cliente volta a ser promotor, por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estratégia tem que ser prevenção, não só resolução.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mais pesa no NPS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21040" y="2057400"/>
            <a:ext cx="27432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Destruidores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24688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indica fricção: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ligações, espera.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3840480"/>
            <a:ext cx="274320" cy="2743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Sustentadores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21040" y="42519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que validam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satisfação: recompra rápida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CSAT interno alto.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importa: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região, tempo de relacionamento, valor do pedido, frete. O problema é da operação, não do perfil.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fazer com isso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108960" cy="3291840"/>
          </a:xfrm>
          <a:prstGeom prst="rect">
            <a:avLst/>
          </a:prstGeom>
          <a:solidFill>
            <a:srgbClr val="243447"/>
          </a:solidFill>
          <a:ln w="12700">
            <a:solidFill>
              <a:srgbClr val="3747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Promessa honesta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SLAs do checkout. Melhor prometer 7 dias e cumprir do que prometer 3 e atrasar.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2103120"/>
            <a:ext cx="3108960" cy="3291840"/>
          </a:xfrm>
          <a:prstGeom prst="rect">
            <a:avLst/>
          </a:prstGeom>
          <a:solidFill>
            <a:srgbClr val="243447"/>
          </a:solidFill>
          <a:ln w="12700">
            <a:solidFill>
              <a:srgbClr val="3747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00600" y="210312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8920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Priorização inteligente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4297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pedidos com sinais de </a:t>
            </a:r>
            <a:r>
              <a:rPr lang="en-US" sz="120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antes que virem reclamação. Resolver rápido evita escalada.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103120"/>
            <a:ext cx="3108960" cy="3291840"/>
          </a:xfrm>
          <a:prstGeom prst="rect">
            <a:avLst/>
          </a:prstGeom>
          <a:solidFill>
            <a:srgbClr val="243447"/>
          </a:solidFill>
          <a:ln w="12700">
            <a:solidFill>
              <a:srgbClr val="3747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0" y="210312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7782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CRM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 antecipado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0" y="4297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atraso, contatos e reclamações em um sinal de risco que apareça antes da pesquisa de NPS chegar.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852160"/>
            <a:ext cx="1371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fim, é simples: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com honestidade e entregar no prazo. </a:t>
            </a: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só mostram o tamanho do estrago quando isso falha.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D466DE3-BA96-9340-A618-63A0E45BF469}"/>
              </a:ext>
            </a:extLst>
          </p:cNvPr>
          <p:cNvSpPr/>
          <p:nvPr/>
        </p:nvSpPr>
        <p:spPr>
          <a:xfrm>
            <a:off x="0" y="0"/>
            <a:ext cx="12192000" cy="7009465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DE7401-27B5-1849-8A59-CDE5B856C17E}"/>
              </a:ext>
            </a:extLst>
          </p:cNvPr>
          <p:cNvSpPr txBox="1"/>
          <p:nvPr/>
        </p:nvSpPr>
        <p:spPr>
          <a:xfrm>
            <a:off x="723900" y="1968500"/>
            <a:ext cx="10515600" cy="203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6400" b="1" dirty="0">
                <a:solidFill>
                  <a:srgbClr val="FFFFFF"/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40846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2FA686-F2F9-744A-BA6A-3970F7D6BAE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174d195-1c25-4a63-83f2-22e972e8ff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2402</TotalTime>
  <Words>478</Words>
  <Application>Microsoft Macintosh PowerPoint</Application>
  <PresentationFormat>Widescreen</PresentationFormat>
  <Paragraphs>76</Paragraphs>
  <Slides>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de NPS - E-commerce</dc:title>
  <dc:subject>PptxGenJS Presentation</dc:subject>
  <dc:creator>PptxGenJS</dc:creator>
  <cp:lastModifiedBy>Thiago Diniz</cp:lastModifiedBy>
  <cp:revision>6</cp:revision>
  <dcterms:created xsi:type="dcterms:W3CDTF">2026-05-01T17:37:42Z</dcterms:created>
  <dcterms:modified xsi:type="dcterms:W3CDTF">2026-05-03T09:54:17Z</dcterms:modified>
</cp:coreProperties>
</file>